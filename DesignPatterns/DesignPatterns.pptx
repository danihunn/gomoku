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_rels/slide22.xml.rels" ContentType="application/vnd.openxmlformats-package.relationships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flipH="1" flipV="1">
            <a:off x="-720" y="4499280"/>
            <a:ext cx="10079640" cy="116964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9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hu-H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hu-H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hu-H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hu-H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hu-H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hu-H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CB6114C-4DDA-40DA-99FA-77D86B201900}" type="slidenum"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hu-H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 flipH="1" flipV="1">
            <a:off x="-720" y="4499280"/>
            <a:ext cx="10079640" cy="116964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9640" cy="10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9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hu-H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hu-H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hu-H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hu-H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hu-H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hu-H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2D5612D-A353-4100-BBF7-0E6AD393C99C}" type="slidenum"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hu-H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>
            <a:off x="0" y="0"/>
            <a:ext cx="10076400" cy="7196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" name=""/>
          <p:cNvSpPr/>
          <p:nvPr/>
        </p:nvSpPr>
        <p:spPr>
          <a:xfrm>
            <a:off x="3240" y="5040000"/>
            <a:ext cx="10076400" cy="6310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9640" cy="477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hu-H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hu-H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hu-H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hu-H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hu-H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hu-H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hu-H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hu-H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39640" cy="3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DEE1E9-3DA4-48CC-B8CC-30AF634D028B}" type="slidenum">
              <a:rPr b="0" lang="hu-H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hu-H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0" y="1619640"/>
            <a:ext cx="8999640" cy="108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Design Patterns in Software Engineering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640" cy="47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What are design patterns?</a:t>
            </a: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	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Reusable solutions to recurring software design problems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Not exact code, but templates or guidelines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Improve communication among developers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Increase flexibility, scalability and maintainability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Language independent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C5E12F-F1BE-4882-AF95-D93293AB3BC7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60000" y="143280"/>
            <a:ext cx="9359640" cy="93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Why use design patterns?</a:t>
            </a:r>
            <a:br>
              <a:rPr sz="3300"/>
            </a:b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Provide proven, well tested solutions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Reduce development time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Encourage clean, modular architecture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Help avoid reinventing the wheel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Make code easier to understand and to extend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B80CD4-123F-4024-BAD3-B3C50419C2AF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640" cy="47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Categories of design patterns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Creational Patterns: object creation mechanisms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Structural Patterns: composition and relationships between objects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Behavioral Patterns: communication and responsibility between objects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AADE26-F5CB-4CA8-A7DE-118E92506D28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640" cy="47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Creational patterns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Deal with object creation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Make the sysdtem independent of how objects are created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Examples: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Singleton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Factory method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Abstract factory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Builder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Prototype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D22345-645B-41AD-86E3-D5C10F62A15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360000" y="167400"/>
            <a:ext cx="935964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MVC (Model-View-Controller)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The MVC pattern is a widely used architectural design pattern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Commonly used in web apps, desktop and mobile development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It’s purpose is to seperate concerns that data handling, presentation and user interaction logic are kept independent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060"/>
              </a:spcBef>
              <a:buNone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 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77EA3A-B03C-45DD-9C3A-F555F878ED7A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60000" y="167400"/>
            <a:ext cx="935964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MVC (Model)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0">
              <a:lnSpc>
                <a:spcPct val="100000"/>
              </a:lnSpc>
              <a:spcBef>
                <a:spcPts val="1060"/>
              </a:spcBef>
              <a:buNone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The model represents the data and business logic of the app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Stores and manages data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Handles validation, rules and domain logic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Communicates with the database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Does not contain any user interface code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9BF066-F293-4AFB-827F-5192BD74BDFE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360000" y="167400"/>
            <a:ext cx="935964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MVC (View)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0">
              <a:lnSpc>
                <a:spcPct val="100000"/>
              </a:lnSpc>
              <a:spcBef>
                <a:spcPts val="1060"/>
              </a:spcBef>
              <a:buNone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The view is responsible for the user interface and presentation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Displays data provided by the Model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Contains visual elements such as forms, tables, buttons and text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Does not manage business logic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Does not modify the Model directly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AD1A0C-08D5-4680-98D9-FE43430D9E38}" type="slidenum">
              <a:t>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60000" y="167400"/>
            <a:ext cx="935964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MVC (Controller)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0">
              <a:lnSpc>
                <a:spcPct val="100000"/>
              </a:lnSpc>
              <a:spcBef>
                <a:spcPts val="1060"/>
              </a:spcBef>
              <a:buNone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The Controller acts as the intermediary between the View and Model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Handles user input (such as button clicks)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Updates or retrieves data from the Model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Chooses which View to display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Controls the flow of data between the Model and View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D901D9-94FE-4E66-BA5E-3B35DB7A6EE9}" type="slidenum">
              <a:t>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60000" y="167400"/>
            <a:ext cx="935964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How MVC works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Font typeface="Wingdings" charset="2"/>
              <a:buAutoNum type="arabicPeriod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The user interacts with the View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Font typeface="Wingdings" charset="2"/>
              <a:buAutoNum type="arabicPeriod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The Controller receives the input and interprets it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Font typeface="Wingdings" charset="2"/>
              <a:buAutoNum type="arabicPeriod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The Controller updates the Model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Font typeface="Wingdings" charset="2"/>
              <a:buAutoNum type="arabicPeriod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The Model processes changes and updates its state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Font typeface="Wingdings" charset="2"/>
              <a:buAutoNum type="arabicPeriod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The View displays the updated data to the user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54EFC4-E45A-4C6C-A7C7-D4F9C7E20231}" type="slidenum">
              <a:t>10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360000" y="167400"/>
            <a:ext cx="935964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Advantages of MVC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Clear separation of concerns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Easier maintenance and scaling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Improved testability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Reusable and interchangeable Views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Better structure for complex applications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E724CD-EFD8-4417-A57C-DA2C148B6599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60000" y="167400"/>
            <a:ext cx="9359640" cy="503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Where MVC is used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Web frameworks (Spring MVC, ASP.NET MVC)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Desktop applications (JavaFX, .NET)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Mobile and hybrid applications (early iOS design patterns)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1F80E2-58D9-4271-A9AE-F3F8D591AE1C}" type="slidenum">
              <a:t>12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640" cy="47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Singleton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Ensures only one instance of a class exists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Provides a global point of access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Common uses: config managers, game managers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Pros: simple, controlled access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Cons: can be overused, hard to test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1223D2-DA89-4735-9A05-9553C92DEF53}" type="slidenum">
              <a:t>13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640" cy="47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Factory method pattern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Defines an interface for creating objects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Subclasses decide which class to instantiate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Helps follow the open / closed principle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Examples: GUI elements, document creators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F512C9-62FA-401A-B82F-AD9940C4C884}" type="slidenum">
              <a:t>14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640" cy="47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Builder pattern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Used for constructing complex objects step by step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Useful when an object has many optional parameters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Supports different representations with the same construction process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64291B-B7B2-4E64-98DE-684A06BD6D07}" type="slidenum">
              <a:t>15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640" cy="47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Structural pattern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Focus on how classes and objects form larger structures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Make systems easier to modify and extend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Examples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Adapter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Decorator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Facade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Proxy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Composite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7FD331-C906-4F10-8147-D32E10541663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640" cy="47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Adapter pattern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Allows incompatible interfaces to work together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“Translator” between two existing components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Example: converting legacy code to new interfaces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ADACCD-D938-4AB0-B247-DA9FBF8ED24A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640" cy="47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Decorator pattern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Adds functionality to objects dynamically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Avoids creating large inheritance hierarchies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Common in GUI frameworks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447E8A-B4E8-4AE4-972C-2C0715E42236}" type="slidenum">
              <a:t>18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640" cy="47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Facade pattern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Provides a simplified interface to a complex subsystem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Makes large libraries easier to use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Good for APIs and layered architecture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2AFBDE-6101-4F36-994D-BAE6E0C082E1}" type="slidenum">
              <a:t>19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640" cy="47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Behavioral patterns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Manage how objects interact and communicate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Help distribute responsibilities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Examples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Observer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Strategy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Command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State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Iterator</a:t>
            </a:r>
            <a:endParaRPr b="0" lang="hu-H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E3FECE-3942-4E54-9ED9-85A0F8858BD7}" type="slidenum">
              <a:t>20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640" cy="47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Observer pattern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Defines one-to-many dependency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When one object changes state, all observers are notified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Common in event systems and GUIs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FEC397-D462-4C14-9393-6E41F9535162}" type="slidenum">
              <a:t>21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640" cy="47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Strategy Pattern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Defines a family of interchangeable algorithms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Client can change behavior at runtime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Examples: sorting, routing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678FC4-5AED-473E-8795-1BF9221B24F2}" type="slidenum">
              <a:t>22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640" cy="47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Command Pattern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Encapsulates an action as an object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Enables undo / redo, logging, queuing actions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Frequently used in editors, UI frameworks, automation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BCC588-F57D-4738-8853-FFACB81F9FA2}" type="slidenum">
              <a:t>23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60000" y="179640"/>
            <a:ext cx="9359640" cy="47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Summary</a:t>
            </a:r>
            <a:endParaRPr b="0" lang="hu-H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9640" cy="359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Design patterns offer tried-and-tested solutions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Improve code quality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Three main groups: creational, structural, behavioral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Knowing them makes you a better designer and developer</a:t>
            </a:r>
            <a:endParaRPr b="0" lang="hu-H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2B820C-7275-4CD3-985D-21E4397AAF7B}" type="slidenum">
              <a:t>24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LibreOffice/25.8.3.1$Windows_X86_64 LibreOffice_project/52ad9dd1c984050a9fb6932dbfb16e86a49e9758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2025-12-02T17:02:46Z</dcterms:created>
  <dc:creator/>
  <dc:description>This work is licensed under a Creative Commons 0 License.
It makes use of the works of kka_libo_design@ashisuto.co.jp.</dc:description>
  <dc:language>hu-HU</dc:language>
  <cp:lastModifiedBy/>
  <dcterms:modified xsi:type="dcterms:W3CDTF">2025-12-03T14:00:40Z</dcterms:modified>
  <cp:revision>91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